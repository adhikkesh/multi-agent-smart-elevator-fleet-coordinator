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A5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F3A5F"/>
                </a:solidFill>
                <a:latin typeface="Calibri"/>
              </a:rPr>
              <a:t>Morning up-peak: average wait (s), 100 test seeds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wait (s)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A3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DA10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Nearest car</c:v>
                  </c:pt>
                  <c:pt idx="1">
                    <c:v>Collective</c:v>
                  </c:pt>
                  <c:pt idx="2">
                    <c:v>CNP + A*</c:v>
                  </c:pt>
                  <c:pt idx="3">
                    <c:v>Full (CNP+A*+SA)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56.2</c:v>
                </c:pt>
                <c:pt idx="1">
                  <c:v>47.1</c:v>
                </c:pt>
                <c:pt idx="2">
                  <c:v>42.9</c:v>
                </c:pt>
                <c:pt idx="3">
                  <c:v>29.9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3A3A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A55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6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Adhikkesh. Introduce the team and the one-line idea: every elevator car is an autonomous agent that bids for hall calls; we then learn how to bid.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Adhikkesh. Define EGCP: assign every hall call to one car, online, under uncertainty about future arrivals and destinations. Stress the combinatorics (N^k) and that the objective trades wait time, fairness and energy.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Adhikkesh. Use the measured up-peak numbers: nearest car ignores what a car is already committed to, so cars bunch and upper floors starve; collective control avoids reversing but still has no look-ahead. Planning (A*) and global re-optimisation halve the wait.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Adhikkesh. Six agent types, each with a PEAS description and an AIMA agent type. Agents never call each other's methods: they exchange FIPA-ACL messages through a bus and read a public status board. Walk through one Contract Net round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Adhikkesh. Explain the discrete-time kinematics (1 tick = 1 s), the A* stop-sequencing problem with an admissible heuristic, and the safety invariants checked every tick. Mention that our 100-seed evaluation found and fixed a fire-recall bug (car counted as moving with doors open).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Kavin Karthic. A decision is encoded as tokens: one call token, one global token, one token per car — so the network sees a set of cars of any size. Schema v2 added the public cost weights, which removed conflicting labels between the two teachers. Be honest about the twin: measured 3.7x faster than the real simulator and not faithful, so RL trains on the real simulator.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Kavin Karthic. The network replaces only the bid computation. It is permutation-equivariant (no car ids), 237k parameters. Behaviour cloning on 595k decisions reached 88.3% agreement over 3 seeds; DAgger fixed the one closed-loop regime that was outside the 5% band. ONNX inference is 0.19 ms per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Akash. Imitation can only match the teacher; RL optimises the real objective. Explain the SMDP (irregular decision times, gamma^(dt/5)), the shared team reward (cooperative), the asymmetric critic that sees privileged state during training only, and the KL anchor that keeps the policy close to the imitation policy. Status: implemented and unit-tested; full training runs on Kaggle.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Akash. The dispatcher, which sees all bids, runs a short PUCT look-ahead over contested calls: about 22 simulations to depth 3 inside a 50 ms budget, sampled hidden passengers, cost-greedy rollouts. Demo it live on the Brain page (strategy LiftZero + look-ahead).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Sisr Reddy. Launch with `uv run elevator serve` and open localhost:8000. Show the shaft canvas, the auction theatre (live CFP/PROPOSE/ACCEPT with bid breakdown), compare mode, and story mode. Switch the strategy to LiftZero-BC: the decision trace shows the network's bids.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Akash. 100 paired test seeds per regime in the real simulator. The full multi-agent system is strongest overall; LiftZero-BC tracks its teacher closely. Point out down-peak, where simple collective control is competitive — the motivation for 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Akash. Each learned strategy differs from its teacher only in the bidder (single-variable comparison). The bare-CNP pair is within the ±5% band in all 13 regimes and scenarios; the full-system pair misses in three, where passenger streams diverge because annealing shares the random stream — wide confidence intervals.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member presents their own slides: Adhikkesh 1–5, Kavin 6–7, Akash 8–9 and 11–12, Sisr 10 and the live demo; everyone fields questions on their modules.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Adhikkesh (with all). Summarise: a working multi-agent system with search and safety, a learned bidder that matches the A* teacher at a fraction of the compute, and an RL pipeline ready to train. Then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LiftZero  ·  FOAI Semester 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OF ARTIFICIAL INTELLIGENCE  ·  SEMESTER 7 CAPSTONE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LiftZero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86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Smart Elevator Fleet Coordinator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8803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Net agents · A* search · imitation-learned bidding · cooperative RL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97764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Adhikkesh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4526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CB.SC.U4CSE23101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4846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multi-agent coordination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474720" y="397764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75888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Sisr Reddy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75888" y="4526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CB.SC.U4CSE23129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75888" y="4846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Control &amp; frontend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397764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19088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Kavin Karthic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19088" y="4526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CB.SC.U4CSE23161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19088" y="4846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environments &amp; imitation learning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961120" y="397764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62288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Akash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162288" y="4526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CB.SC.U4CSE23162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162288" y="4846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RL, search &amp; evaluation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and Engineering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Elevator Group Control Problem (EGCP)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time someone presses a hall button, the fleet must decide — in real time — which car serves it. Decisions interact: today's assignment shapes every car's future route.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514600"/>
            <a:ext cx="6400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Online: future passengers and their destinations are unknown (partially observable, stochastic)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Combinatorial: with N cars and k open calls there are N^k assignments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Multi-objective: average wait, worst-case (p95) wait, ride time, energy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Safety-critical: doors, capacity, faults and fire recall must never be violated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498080" y="1280160"/>
            <a:ext cx="411480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26680" y="14173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4²⁰ ≈ 10¹²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20848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for 4 cars and 20 open calls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498080" y="2788920"/>
            <a:ext cx="411480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26680" y="2926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3593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cycle: one simulation tick = one second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498080" y="4297680"/>
            <a:ext cx="411480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26680" y="44348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+ N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7726680" y="510235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cooperating agents per building (N cars)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classic dispatchers fail at peak hours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34440"/>
          <a:ext cx="60350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6949440" y="132588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9494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7589520" y="1280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car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7589520" y="1645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Ignores each car's existing commitments → bunching, upper floors starve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949440" y="251460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94944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589520" y="24688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Collective (LOOK)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7589520" y="28346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Sweeps in one direction; no estimate of future cost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49440" y="370332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94944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589520" y="36576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rules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7589520" y="40233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adapt when traffic flips from up-peak to lunch to down-peak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949440" y="4937760"/>
            <a:ext cx="4663440" cy="777240"/>
          </a:xfrm>
          <a:prstGeom prst="roundRect">
            <a:avLst>
              <a:gd name="adj" fmla="val 9412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132320" y="498348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system cuts up-peak wait by 47 % vs nearest car (29.9 s vs 56.2 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architecture and the Contract Net Protocol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 (×N)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1051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utility-based: bids marginal cost, A* routing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383280" y="128016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66160" y="1417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566160" y="181051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auctioneer: CFP, award, SA re-optimisation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74320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2880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27355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senses waiting passengers, raises hall calls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383280" y="274320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66160" y="2880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monitor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3566160" y="327355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agent: detects pattern, retunes weights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420624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343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473659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rule-based: forward-chaining safety rules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3383280" y="420624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566160" y="4343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3566160" y="473659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reflex: board, ride, alight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492240" y="1280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auction round (FIPA-ACL)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6492240" y="1783080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92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132320" y="174650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CFP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7132320" y="211226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 broadcasts the hall call (floor, direction, urgency)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492240" y="2862072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92240" y="2862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32320" y="282549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/ REFUSE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7132320" y="3191256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car prices the call from its own state; full or faulty cars refuse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492240" y="3941064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9224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32320" y="39044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/ REJECT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7132320" y="427024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bid wins (ties → lowest car id)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6492240" y="5020056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492240" y="5020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132320" y="49834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7132320" y="53492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 updates its route; board and dashboard update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Physical model, search and safety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417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Kinematics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01168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tick = 1 simulated second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 per floor, 2 s door open / close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 boarding per passenger, capacity 6–16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states: closed → opening → open → closing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297680" y="128016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26280" y="1417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Routing as search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01168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car floor, direction, remaining stops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with an admissible, consistent heuristic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= marginal cost of inserting the call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fallback above 10 stops (bounded rationality)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046720" y="128016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1417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01168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move with doors open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exceed capacity or floor bounds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recall to lobby, fault ejection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Invariants checked every tick of every run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557784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56235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scale found a real safety bug (fire alarm mid-move); fixed and pinned by regression tests — 0 violations in 7,800 test runs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 and the learning environment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6035040" cy="1097280"/>
          </a:xfrm>
          <a:prstGeom prst="roundRect">
            <a:avLst>
              <a:gd name="adj" fmla="val 666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1828800" y="13898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token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828800" y="175564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floor, direction, waiting, urgency, traffic pattern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6035040" cy="1097280"/>
          </a:xfrm>
          <a:prstGeom prst="roundRect">
            <a:avLst>
              <a:gd name="adj" fmla="val 666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65176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1828800" y="26243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token (each car)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828800" y="299008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position, direction, load, doors, plan summary, geometry to the call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3749040"/>
            <a:ext cx="6035040" cy="1097280"/>
          </a:xfrm>
          <a:prstGeom prst="roundRect">
            <a:avLst>
              <a:gd name="adj" fmla="val 666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38862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1828800" y="38587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token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828800" y="422452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time, building, fleet load, public cost weights W1–W4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0749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are public only: what any car can read from the status board.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040880" y="1280160"/>
            <a:ext cx="457200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69480" y="141732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1.47 M</a:t>
            </a:r>
            <a:endParaRPr lang="en-US" sz="3400" dirty="0"/>
          </a:p>
        </p:txBody>
      </p:sp>
      <p:sp>
        <p:nvSpPr>
          <p:cNvPr id="19" name="Text 16"/>
          <p:cNvSpPr txBox="1"/>
          <p:nvPr/>
        </p:nvSpPr>
        <p:spPr>
          <a:xfrm>
            <a:off x="7269480" y="208483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decisions recorded from the real simulator (train / val / test)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040880" y="2788920"/>
            <a:ext cx="457200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269480" y="292608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</a:t>
            </a:r>
            <a:endParaRPr lang="en-US" sz="3400" dirty="0"/>
          </a:p>
        </p:txBody>
      </p:sp>
      <p:sp>
        <p:nvSpPr>
          <p:cNvPr id="22" name="Text 19"/>
          <p:cNvSpPr txBox="1"/>
          <p:nvPr/>
        </p:nvSpPr>
        <p:spPr>
          <a:xfrm>
            <a:off x="7269480" y="35935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learner-state decisions from two DAgger rounds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040880" y="4297680"/>
            <a:ext cx="457200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269480" y="443484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3.7×</a:t>
            </a:r>
            <a:endParaRPr lang="en-US" sz="3400" dirty="0"/>
          </a:p>
        </p:txBody>
      </p:sp>
      <p:sp>
        <p:nvSpPr>
          <p:cNvPr id="25" name="Text 22"/>
          <p:cNvSpPr txBox="1"/>
          <p:nvPr/>
        </p:nvSpPr>
        <p:spPr>
          <a:xfrm>
            <a:off x="7269480" y="51023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twin speed-up only → RL trains on the real simulator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LiftZero-BC: a set-Transformer that learns to bid</a:t>
            </a:r>
            <a:endParaRPr lang="en-US" sz="3000" dirty="0"/>
          </a:p>
        </p:txBody>
      </p:sp>
      <p:pic>
        <p:nvPicPr>
          <p:cNvPr id="4" name="Image 0" descr="BC training loss and validation agreement over epochs for 3 see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6949440" cy="2652561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863840" y="1234440"/>
            <a:ext cx="374904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092440" y="13716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88.3 ± 0.4 %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8092440" y="20391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agreement, 3 seeds (gate 85 %)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7863840" y="2697480"/>
            <a:ext cx="374904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092440" y="28346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89.9 %</a:t>
            </a:r>
            <a:endParaRPr lang="en-US" sz="3400" dirty="0"/>
          </a:p>
        </p:txBody>
      </p:sp>
      <p:sp>
        <p:nvSpPr>
          <p:cNvPr id="10" name="Text 6"/>
          <p:cNvSpPr txBox="1"/>
          <p:nvPr/>
        </p:nvSpPr>
        <p:spPr>
          <a:xfrm>
            <a:off x="8092440" y="35021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on unseen test decisions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863840" y="4160520"/>
            <a:ext cx="374904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42976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0.19 ms</a:t>
            </a:r>
            <a:endParaRPr lang="en-US" sz="3400" dirty="0"/>
          </a:p>
        </p:txBody>
      </p:sp>
      <p:sp>
        <p:nvSpPr>
          <p:cNvPr id="13" name="Text 9"/>
          <p:cNvSpPr txBox="1"/>
          <p:nvPr/>
        </p:nvSpPr>
        <p:spPr>
          <a:xfrm>
            <a:off x="8092440" y="496519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inference per decision (8 cars)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475488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4-layer set-Transformer, 237,575 parameters, permutation-equivariant over cars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Loss: listwise CE + log-cost regression + rank + pairwise hinge on hard decisions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DAgger: learner drives, A* teacher labels — closed-loop gap shrank from +6.2 % to +1.1 %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LiftZero-PPO: cooperative reinforcement learning (CTDE)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5760720" cy="2011680"/>
          </a:xfrm>
          <a:prstGeom prst="roundRect">
            <a:avLst>
              <a:gd name="adj" fmla="val 363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3716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178308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 = −E[min(ρA, clip(ρ, 1±ε)A)] + c_v·(V_priv − R)² − c_e·H[π] + β·KL(π_BC ‖ π)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060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SMDP discount γ^(Δt/τ), GAE λ = 0.95, β: 0.2 → 0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520440"/>
            <a:ext cx="5760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reward: −(Σ waiting time + ½ Σ riding time)/100 − 0.02·floors − 0.5·long waits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Decentralised execution: every car runs the same public-information actor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Centralised training: the critic also sees per-floor queues and waiting ages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Trains directly on the real simulator (no sim-to-real gap)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766560" y="1280160"/>
            <a:ext cx="4846320" cy="2377440"/>
          </a:xfrm>
          <a:prstGeom prst="roundRect">
            <a:avLst>
              <a:gd name="adj" fmla="val 3077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95160" y="1371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995160" y="1783080"/>
            <a:ext cx="4389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from scratch and unit-tested (GAE, clipping, KL, critic isolation, seed guards). End-to-end smoke run passes. Full training runs on Kaggle; results are added once available.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766560" y="3931920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665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406640" y="395935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start from LiftZero-BC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766560" y="4498848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66560" y="4498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406640" y="45262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8k decisions in parallel workers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766560" y="5065776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766560" y="5065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406640" y="509320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from the privileged critic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766560" y="5632704"/>
            <a:ext cx="457200" cy="45720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66560" y="5632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406640" y="566013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epochs of clipped updates, KL early stop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Look-ahead arbitration with PUCT Monte-Carlo tree search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5760720" cy="1554480"/>
          </a:xfrm>
          <a:prstGeom prst="roundRect">
            <a:avLst>
              <a:gd name="adj" fmla="val 470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3716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rule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1810512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556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a* = argmaxₐ [ Q(s,a) + c_puct · P(s,a) · √(Σ_b N(s,b)) / (1 + N(s,a)) ]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063240"/>
            <a:ext cx="5760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P from the LiftZero network, leaf value from its public value head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cars that proposed are candidates; refusals stay classical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passenger destinations are sampled (determinisation, partial observability)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real-time budget: ≤ 50 ms per contested decision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766560" y="1280160"/>
            <a:ext cx="4846320" cy="1828800"/>
          </a:xfrm>
          <a:prstGeom prst="roundRect">
            <a:avLst>
              <a:gd name="adj" fmla="val 4000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95160" y="1371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Implemented: live in the Brain panel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995160" y="1783080"/>
            <a:ext cx="4389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~22 simulations to depth 3 in a 50 ms budget; searches ~70 % of auctions and overrides the network on ~15–20 % of them, with zero safety violations.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766560" y="342900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49440" y="3502152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3502152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bid: 0.19 ms, no look-ahead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766560" y="429768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49440" y="4370832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Deliberative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412480" y="4370832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search: simulates the next minute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766560" y="516636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49440" y="5239512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0" y="5239512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only when bids are close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 Control: the live React dashboard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32588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55448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Control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3055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FPS canvas of shafts, cars, doors and passengers; live KPI sparklines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0" y="132588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55448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12064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Auction theatre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13055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Contract Net round: bids, breakdown, winner and reason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046720" y="132588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75320" y="155448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86968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13055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graph, FIPA-ACL swimlanes, PEAS inspector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315468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77240" y="338328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7724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371600" y="3383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lab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395935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/ UCS / Greedy / A* step-through, SA and minimax demos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297680" y="315468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26280" y="338328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2628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120640" y="3383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526280" y="395935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multi-seed benchmarks and side-by-side compare mode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8046720" y="315468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275320" y="338328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7532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869680" y="3383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LiftZero Brain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8275320" y="395935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network bids, attention, search visits and Q, 'Why?' saliency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548640" y="516636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77240" y="52120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TypeScript, WebSocket streaming from FastAPI · 66 Vitest unit tests · LiftZero strategies selectable live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average wait across traffic patterns</a:t>
            </a:r>
            <a:endParaRPr lang="en-US" sz="3000" dirty="0"/>
          </a:p>
        </p:txBody>
      </p:sp>
      <p:pic>
        <p:nvPicPr>
          <p:cNvPr id="4" name="Image 0" descr="Grouped bar chart of average wait for six strategies in four traffic patter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5991" y="1188720"/>
            <a:ext cx="8929538" cy="43434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Up-peak: Full 29.9 s vs Nearest 56.2 s (−47 %)  ·  LiftZero-BC within ±3 % of its teacher in 3 of 4 patterns  ·  0 safety violations in 7,800 runs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learned bidder match the A* teacher?</a:t>
            </a:r>
            <a:endParaRPr lang="en-US" sz="3000" dirty="0"/>
          </a:p>
        </p:txBody>
      </p:sp>
      <p:pic>
        <p:nvPicPr>
          <p:cNvPr id="4" name="Image 0" descr="Forest plot of percentage difference in average wait between learned and teacher strategi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766560" cy="4365105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680960" y="128016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09560" y="141732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/ 13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7909560" y="208483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regimes within ±5 % for the bare-CNP learned bidder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7680960" y="27432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909560" y="28803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/ 13</a:t>
            </a:r>
            <a:endParaRPr lang="en-US" sz="3400" dirty="0"/>
          </a:p>
        </p:txBody>
      </p:sp>
      <p:sp>
        <p:nvSpPr>
          <p:cNvPr id="10" name="Text 6"/>
          <p:cNvSpPr txBox="1"/>
          <p:nvPr/>
        </p:nvSpPr>
        <p:spPr>
          <a:xfrm>
            <a:off x="7909560" y="354787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regimes within ±5 % for LiftZero-BC vs Full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680960" y="4206240"/>
            <a:ext cx="3931920" cy="18288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863840" y="4297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ladder (up-peak wait)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863840" y="4681728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56.2 → Collective 47.1 → CNP+A* 42.9 → Full 29.9 → LiftZero-BC 31.6 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contributions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2651760" cy="4754880"/>
          </a:xfrm>
          <a:prstGeom prst="roundRect">
            <a:avLst>
              <a:gd name="adj" fmla="val 275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49808" y="1417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Adhikkesh</a:t>
            </a:r>
            <a:endParaRPr lang="en-US" sz="2100" dirty="0"/>
          </a:p>
        </p:txBody>
      </p:sp>
      <p:sp>
        <p:nvSpPr>
          <p:cNvPr id="6" name="Text 3"/>
          <p:cNvSpPr txBox="1"/>
          <p:nvPr/>
        </p:nvSpPr>
        <p:spPr>
          <a:xfrm>
            <a:off x="749808" y="1874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CB.SC.U4CSE23101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2423160"/>
            <a:ext cx="2286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 3 multi-agent engine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FIPA-ACL + Contract Net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Kinematics, A* routing, safety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1–5, demo launch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64992" y="1280160"/>
            <a:ext cx="2651760" cy="4754880"/>
          </a:xfrm>
          <a:prstGeom prst="roundRect">
            <a:avLst>
              <a:gd name="adj" fmla="val 275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1417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Sisr Reddy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1874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CB.SC.U4CSE23129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566160" y="2423160"/>
            <a:ext cx="2286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Mission Control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FPS canvas, auction theatre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&amp; story modes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10, live UI demo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81344" y="1280160"/>
            <a:ext cx="2651760" cy="4754880"/>
          </a:xfrm>
          <a:prstGeom prst="roundRect">
            <a:avLst>
              <a:gd name="adj" fmla="val 275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82512" y="1417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Kavin Karthic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6382512" y="1874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CB.SC.U4CSE23161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382512" y="2423160"/>
            <a:ext cx="2286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schema, expert recorder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Set-Transformer, BC + DAgger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runtime, learned bidder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6–7, CLI demo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997696" y="1280160"/>
            <a:ext cx="2651760" cy="4754880"/>
          </a:xfrm>
          <a:prstGeom prst="roundRect">
            <a:avLst>
              <a:gd name="adj" fmla="val 275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198864" y="1417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Akash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9198864" y="1874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CB.SC.U4CSE23162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9198864" y="2423160"/>
            <a:ext cx="2286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Cooperative PPO (CTDE)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PUCT-MCTS look-ahead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 &amp; statistics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8–9, 11–12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and next steps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417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−47 %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0848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up-peak wait vs nearest car (full system)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325112" y="128016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53712" y="1417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0.19 ms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4553712" y="20848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bid vs an A* search per car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092440" y="128016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21040" y="1417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8321040" y="20848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violations in 7,800 test runs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8803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337560"/>
            <a:ext cx="5394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Message-driven multi-agent system with Contract Net, A* and safety rules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Imitation-learned bidder (BC + DAgger) matching its teacher, shipped as ONNX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and a reproducible evaluation pipeline (444 + 66 tests)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309360" y="28803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3337560"/>
            <a:ext cx="5303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PPO training (code and tests ready) and compare with the teacher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the look-ahead budget; value-head leaves once PPO is trained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building traces and multi-lobby buildings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309360" y="5257800"/>
            <a:ext cx="5303520" cy="777240"/>
          </a:xfrm>
          <a:prstGeom prst="roundRect">
            <a:avLst>
              <a:gd name="adj" fmla="val 9412"/>
            </a:avLst>
          </a:prstGeom>
          <a:solidFill>
            <a:srgbClr val="E8F3F2"/>
          </a:solidFill>
          <a:ln w="12700">
            <a:solidFill>
              <a:srgbClr val="E8F3F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530352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LiftZero: Multi-Agent Smart Elevator Fleet Coordinator</dc:title>
  <dc:subject>FOAI Semester 7 capstone viva</dc:subject>
  <dc:creator>Adhikkesh, Sisr Reddy, Kavin Karthic, Akash</dc:creator>
  <cp:lastModifiedBy>Adhikkesh, Sisr Reddy, Kavin Karthic, Akash</cp:lastModifiedBy>
  <cp:revision>1</cp:revision>
  <dcterms:created xsi:type="dcterms:W3CDTF">2026-10-05T06:53:23Z</dcterms:created>
  <dcterms:modified xsi:type="dcterms:W3CDTF">2026-10-05T06:53:23Z</dcterms:modified>
</cp:coreProperties>
</file>